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SU/data_analysis/outputs/corona_always_tren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3840480" y="0"/>
            <a:ext cx="53035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836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コロナ禍の路線価変動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35331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「次のパンデミック」でも勝てる地域を識別する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3474720" cy="45720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0116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コロナは「フィルター」だった ─ 構造的に強い地域だけが生き残った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450592"/>
            <a:ext cx="3474720" cy="45720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578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NII IDR REXデータセット（相続税路線価）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8254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2018〜2022年  ·  全国230万路線  ·  空間統計分析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 = ずっと上昇    青 = ずっと下落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発表の流れ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2011680" cy="45720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530352" cy="530352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9601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データ概要・研究目的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0" y="9875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530352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コロナ前後の路線価変動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0" y="17647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530352" cy="530352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2514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コロナ耐性の条件 — 5タイプ分類・SHAP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25420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530352" cy="5303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32918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構造的上昇地域の深掘り（福岡・北海道…）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0" y="33192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530352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77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" y="40690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まとめ・投資示唆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0" y="40965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データ概要・研究目的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37360" y="685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NII IDR REXデータセット（相続税路線価）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846320" cy="9144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261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シェイプファイル（LineString / EPSG:4326）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581912"/>
            <a:ext cx="4846320" cy="9144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8379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2018〜2022年（5年分）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157984"/>
            <a:ext cx="4846320" cy="9144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140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路線数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4140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約230万路線（全国）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734056"/>
            <a:ext cx="4846320" cy="9144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990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構築方法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990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2022年・2020年ファイルを serial_id で結合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291840"/>
            <a:ext cx="4846320" cy="621792"/>
          </a:xfrm>
          <a:prstGeom prst="rect">
            <a:avLst/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3756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538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コロナのようなパンデミックは再び起きうる。「構造的に強い地域」と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その理由を把握できれば、長期不動産投資の意思決定に直結する。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986784"/>
            <a:ext cx="484632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416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研究目的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4281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「コロナ」をフィルターとして活用し、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構造的上昇地域とその要因を空間統計で識別する。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合わせて構造的下落地域との格差を可視化する。</a:t>
            </a:r>
            <a:endParaRPr lang="en-US" sz="1100" dirty="0"/>
          </a:p>
        </p:txBody>
      </p:sp>
      <p:pic>
        <p:nvPicPr>
          <p:cNvPr id="24" name="Image 0" descr="/Users/KASU/data_analysis/outputs/map_pr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566928"/>
            <a:ext cx="3657600" cy="43434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257800" y="4846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 全国路線価分布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コロナ前後の路線価変動</a:t>
            </a:r>
            <a:endParaRPr lang="en-US" sz="2200" dirty="0"/>
          </a:p>
        </p:txBody>
      </p:sp>
      <p:pic>
        <p:nvPicPr>
          <p:cNvPr id="4" name="Image 0" descr="/Users/KASU/data_analysis/outputs/corona_yearly_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21792"/>
            <a:ext cx="557784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658368"/>
            <a:ext cx="2926080" cy="868680"/>
          </a:xfrm>
          <a:prstGeom prst="rect">
            <a:avLst/>
          </a:prstGeom>
          <a:solidFill>
            <a:srgbClr val="FFF0EF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53328" y="76809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2020→2021 のみ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平均がマイナスに転落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645920"/>
            <a:ext cx="2926080" cy="868680"/>
          </a:xfrm>
          <a:prstGeom prst="rect">
            <a:avLst/>
          </a:prstGeom>
          <a:solidFill>
            <a:srgbClr val="FFF9E6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53328" y="17556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下落路線が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→ 25% に急増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2633472"/>
            <a:ext cx="2926080" cy="868680"/>
          </a:xfrm>
          <a:prstGeom prst="rect">
            <a:avLst/>
          </a:prstGeom>
          <a:solidFill>
            <a:srgbClr val="EEF6FF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7432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2021→2022 は回復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ただし完全ではない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82880" y="3584448"/>
            <a:ext cx="8778240" cy="1371600"/>
          </a:xfrm>
          <a:prstGeom prst="rect">
            <a:avLst/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630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年度別 上昇 / 据え置き / 下落の構成比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3913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2018→19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35.9%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325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- 52.9%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45171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11.2%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514600" y="3913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2019→20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14600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38.2%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514600" y="4325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- 52.1%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514600" y="45171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9.7%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63440" y="3913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2020→21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63440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11.6%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63440" y="4325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- 63.4%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63440" y="45171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25.0%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12280" y="3913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2021→22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12280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30.3%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12280" y="4325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- 59.3%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12280" y="45171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10.4%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コロナ前ベースライン比較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3931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2年連続で安定した上昇基調 — コロナ影響はまだ現れていない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6766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コロナ前  2018→2019</a:t>
            </a:r>
            <a:endParaRPr lang="en-US" sz="1100" dirty="0"/>
          </a:p>
        </p:txBody>
      </p:sp>
      <p:pic>
        <p:nvPicPr>
          <p:cNvPr id="5" name="Image 0" descr="/Users/KASU/data_analysis/outputs/corona_map_road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77824"/>
            <a:ext cx="4206240" cy="3364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6766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コロナ前  2019→2020</a:t>
            </a:r>
            <a:endParaRPr lang="en-US" sz="1100" dirty="0"/>
          </a:p>
        </p:txBody>
      </p:sp>
      <p:pic>
        <p:nvPicPr>
          <p:cNvPr id="7" name="Image 1" descr="/Users/KASU/data_analysis/outputs/corona_map_road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77824"/>
            <a:ext cx="4206240" cy="33649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赤 = 上昇    ● 灰 = 据え置き    ● 青 = 下落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コロナショックの顕在化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3931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2020→2021 で都市部・観光地を中心に下落が急増（下落路線 9.7% → 25.0%）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6766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コロナ前  2019→2020</a:t>
            </a:r>
            <a:endParaRPr lang="en-US" sz="1100" dirty="0"/>
          </a:p>
        </p:txBody>
      </p:sp>
      <p:pic>
        <p:nvPicPr>
          <p:cNvPr id="5" name="Image 0" descr="/Users/KASU/data_analysis/outputs/corona_map_road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77824"/>
            <a:ext cx="4206240" cy="3364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6766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コロナ禍  2020→2021</a:t>
            </a:r>
            <a:endParaRPr lang="en-US" sz="1100" dirty="0"/>
          </a:p>
        </p:txBody>
      </p:sp>
      <p:pic>
        <p:nvPicPr>
          <p:cNvPr id="7" name="Image 1" descr="/Users/KASU/data_analysis/outputs/corona_map_road_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77824"/>
            <a:ext cx="4206240" cy="33649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赤 = 上昇    ● 灰 = 据え置き    ● 青 = 下落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回復期：一時的 vs 構造的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3931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多くの地域で回復（赤が戻る）— しかし構造的下落地域では下落が継続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6766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コロナ禍  2020→2021</a:t>
            </a:r>
            <a:endParaRPr lang="en-US" sz="1100" dirty="0"/>
          </a:p>
        </p:txBody>
      </p:sp>
      <p:pic>
        <p:nvPicPr>
          <p:cNvPr id="5" name="Image 0" descr="/Users/KASU/data_analysis/outputs/corona_map_road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77824"/>
            <a:ext cx="4206240" cy="3364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6766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回復期    2021→2022</a:t>
            </a:r>
            <a:endParaRPr lang="en-US" sz="1100" dirty="0"/>
          </a:p>
        </p:txBody>
      </p:sp>
      <p:pic>
        <p:nvPicPr>
          <p:cNvPr id="7" name="Image 1" descr="/Users/KASU/data_analysis/outputs/corona_map_road_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77824"/>
            <a:ext cx="4206240" cy="33649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赤 = 上昇    ● 灰 = 据え置き    ● 青 = 下落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Donut Effect — 東京都心だけが「真の下落」</a:t>
            </a:r>
            <a:endParaRPr lang="en-US" sz="2200" dirty="0"/>
          </a:p>
        </p:txBody>
      </p:sp>
      <p:pic>
        <p:nvPicPr>
          <p:cNvPr id="4" name="Image 0" descr="/Users/KASU/data_analysis/outputs/corona_donut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21792"/>
            <a:ext cx="621792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658368"/>
            <a:ext cx="2468880" cy="1280160"/>
          </a:xfrm>
          <a:prstGeom prst="rect">
            <a:avLst/>
          </a:prstGeom>
          <a:solidFill>
            <a:srgbClr val="FFE8E8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713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都心 0-5km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0" y="98755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コロナ禍に唯一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実質的な下落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（中央値 -2.2%）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92240" y="2029968"/>
            <a:ext cx="2468880" cy="1280160"/>
          </a:xfrm>
          <a:prstGeom prst="rect">
            <a:avLst/>
          </a:prstGeom>
          <a:solidFill>
            <a:srgbClr val="E8F4FF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郊外 5-30km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235915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コロナ前より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むしろ上昇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（Donut現象）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880" y="3703320"/>
            <a:ext cx="8778240" cy="1207008"/>
          </a:xfrm>
          <a:prstGeom prst="rect">
            <a:avLst/>
          </a:prstGeom>
          <a:solidFill>
            <a:srgbClr val="F0F3FF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3749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399592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コロナ禍において「都市中心への集積」から「郊外・地方への分散」が起きた（ドーナツ化現象）。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ただし都心の下落は2021→2022で回復 → コロナ型の一時的ショックであることが確認できる。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路線を5タイプに分類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645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58368"/>
            <a:ext cx="1645920" cy="438912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76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構造的上昇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1521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" y="1728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—万件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2011680"/>
            <a:ext cx="1426464" cy="1828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8483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全期間で上昇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コロナ禍でも強い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構造的な勝者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658368"/>
            <a:ext cx="1645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658368"/>
            <a:ext cx="1645920" cy="43891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676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11521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65960" y="1728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—万件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75688" y="2011680"/>
            <a:ext cx="1426464" cy="1828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208483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概ね横ばい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コロナの影響を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ほぼ受けなかった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658368"/>
            <a:ext cx="1645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658368"/>
            <a:ext cx="164592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676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回復型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11521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749040" y="1728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14万件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58768" y="2011680"/>
            <a:ext cx="1426464" cy="1828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208483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禍に下落したが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2022年に回復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（一時的ショック）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658368"/>
            <a:ext cx="1645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658368"/>
            <a:ext cx="164592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676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コロナ型下落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1521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532120" y="1728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29万件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41848" y="2011680"/>
            <a:ext cx="1426464" cy="1828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08483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コロナ前は安定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→禍に下落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2022年も未回復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658368"/>
            <a:ext cx="1645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658368"/>
            <a:ext cx="1645920" cy="438912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676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構造的下落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11521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315200" y="1728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25万件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24928" y="2011680"/>
            <a:ext cx="1426464" cy="1828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208483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コロナ前から既に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下落中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人口減少・地域衰退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4407408"/>
            <a:ext cx="8778240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453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構造的上昇・安定の割合はF1ノートブック実行後に更新 ｜ コロナ下落計 18.5%のうち回復は約3割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コロナショック耐性の条件 — LightGBM + SHAP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「コロナ禍の変化率」を目的変数にした機械学習で、耐性を高める特徴を定量化</a:t>
            </a:r>
            <a:endParaRPr lang="en-US" sz="1100" dirty="0"/>
          </a:p>
        </p:txBody>
      </p:sp>
      <p:pic>
        <p:nvPicPr>
          <p:cNvPr id="5" name="Image 0" descr="/Users/KASU/data_analysis/outputs/shap_covid_sh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49808"/>
            <a:ext cx="5212080" cy="3648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749808"/>
            <a:ext cx="3429000" cy="4572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80467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空間CV  R² = 0.18　RMSE = 1.87pp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32120" y="1335024"/>
            <a:ext cx="3429000" cy="804672"/>
          </a:xfrm>
          <a:prstGeom prst="rect">
            <a:avLst/>
          </a:prstGeom>
          <a:solidFill>
            <a:srgbClr val="EEF4FF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96128" y="142646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70448" y="1408176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高価格路線・商業地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コロナに最も脆弱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32120" y="2267712"/>
            <a:ext cx="3429000" cy="804672"/>
          </a:xfrm>
          <a:prstGeom prst="rect">
            <a:avLst/>
          </a:prstGeom>
          <a:solidFill>
            <a:srgbClr val="FFF0EF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96128" y="235915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70448" y="234086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東京から遠い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地方ほど耐性あり（Donut効果）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3200400"/>
            <a:ext cx="3429000" cy="804672"/>
          </a:xfrm>
          <a:prstGeom prst="rect">
            <a:avLst/>
          </a:prstGeom>
          <a:solidFill>
            <a:srgbClr val="FFF0EF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329184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70448" y="3273552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コロナ前の上昇基調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「勢い」がある路線は耐性高い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32120" y="4133088"/>
            <a:ext cx="3429000" cy="804672"/>
          </a:xfrm>
          <a:prstGeom prst="rect">
            <a:avLst/>
          </a:prstGeom>
          <a:solidFill>
            <a:srgbClr val="FFF0EF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6128" y="422452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870448" y="4206240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福岡・西日本圏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経度が示す地域耐性の差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下落の「原因」の地域差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 = コロナ起因の下落が多い地域　　青 = コロナ前からの構造的下落が多い地域</a:t>
            </a:r>
            <a:endParaRPr lang="en-US" sz="1200" dirty="0"/>
          </a:p>
        </p:txBody>
      </p:sp>
      <p:pic>
        <p:nvPicPr>
          <p:cNvPr id="5" name="Image 0" descr="/Users/KASU/data_analysis/outputs/corona_road_typ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841248"/>
            <a:ext cx="69494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「コロナフィルター」が浮き彫りにした地域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全4期間（2018〜2022）を通じてずっと上昇 / ずっと下落だった路線</a:t>
            </a:r>
            <a:endParaRPr lang="en-US" sz="1200" dirty="0"/>
          </a:p>
        </p:txBody>
      </p:sp>
      <p:pic>
        <p:nvPicPr>
          <p:cNvPr id="4" name="Image 0" descr="/Users/KASU/data_analysis/outputs/corona_always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512064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40680" y="804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構造的上昇（投資注目）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94960" y="1097280"/>
            <a:ext cx="3566160" cy="749808"/>
          </a:xfrm>
          <a:prstGeom prst="rect">
            <a:avLst/>
          </a:prstGeom>
          <a:solidFill>
            <a:srgbClr val="1A0808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1338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福岡（44.3%）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0" y="137160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アジア玄関口・人口増加継続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博多駅周辺・天神の地価が全国上位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94960" y="1938528"/>
            <a:ext cx="3566160" cy="749808"/>
          </a:xfrm>
          <a:prstGeom prst="rect">
            <a:avLst/>
          </a:prstGeom>
          <a:solidFill>
            <a:srgbClr val="1A0808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197510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宮城（40.8%）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0" y="221284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震災復興需要の持続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仙台都心の再開発・人口集積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94960" y="2779776"/>
            <a:ext cx="3566160" cy="749808"/>
          </a:xfrm>
          <a:prstGeom prst="rect">
            <a:avLst/>
          </a:prstGeom>
          <a:solidFill>
            <a:srgbClr val="1A0808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281635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北海道（35.2%）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0" y="3054096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ニセコ外資・札幌再開発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インバウンド復活で再加速中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94960" y="3621024"/>
            <a:ext cx="3566160" cy="749808"/>
          </a:xfrm>
          <a:prstGeom prst="rect">
            <a:avLst/>
          </a:prstGeom>
          <a:solidFill>
            <a:srgbClr val="1A0808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365760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沖縄（28.5%）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0" y="389534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観光需要の継続的上昇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那覇市街の商業地が堅調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40680" y="4498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構造的下落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40680" y="4754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神奈川郊外 / 静岡 / 四国 ─ 人口流出・産業空洞化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各地域の深掘り分析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58368"/>
            <a:ext cx="2834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58368"/>
            <a:ext cx="2834640" cy="475488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6858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福岡・沖縄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担当: A（主力）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81328"/>
            <a:ext cx="2468880" cy="1828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分析の視点: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人口増加 / アジア玄関口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インバウンド需要の空間分布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投資先として最注目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2514600" cy="2194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（各自の分析グラフ・地図をここに）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658368"/>
            <a:ext cx="2834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658368"/>
            <a:ext cx="2834640" cy="475488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6858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北海道・宮城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82112" y="11704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担当: A（副）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64992" y="1481328"/>
            <a:ext cx="2468880" cy="1828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15544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分析の視点: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46704" y="1783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ニセコ外資 / 震災復興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札幌・仙台の都市再開発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上昇エリアの内部格差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46704" y="2578608"/>
            <a:ext cx="2514600" cy="2194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46704" y="3520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（各自の分析グラフ・地図をここに）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3056" y="658368"/>
            <a:ext cx="2834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658368"/>
            <a:ext cx="2834640" cy="475488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6858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構造的下落地域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（太平洋沿い・郊外）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63056" y="11704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担当: B・C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45936" y="1481328"/>
            <a:ext cx="2468880" cy="1828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15544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分析の視点: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1783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四国・静岡・神奈川郊外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人口流出・南海トラフリスク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上昇地域との比較対象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27648" y="2578608"/>
            <a:ext cx="2514600" cy="2194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6E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327648" y="3520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（各自の分析グラフ・地図をここに）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SU/data_analysis/outputs/corona_always_tren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結論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コロナは「フィルター」として機能した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65760" y="1078992"/>
            <a:ext cx="8412480" cy="36576"/>
          </a:xfrm>
          <a:prstGeom prst="rect">
            <a:avLst/>
          </a:prstGeom>
          <a:solidFill>
            <a:srgbClr val="3A7FC1"/>
          </a:solidFill>
          <a:ln w="12700">
            <a:solidFill>
              <a:srgbClr val="3A7FC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120700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9844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コロナは「フィルター」だった — 構造的に強い地域だけが残った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95681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04825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構造的勝者: 福岡・北海道・宮城・沖縄（人口増・インバウンド・復興）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270662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79806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コロナ型下落（18.5%）は一時的ショック — 2022年に多くが回復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" y="345643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54787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構造的敗者: 神奈川郊外・四国・山陰（人口流出・産業空洞化）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4315968"/>
            <a:ext cx="8503920" cy="685800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3525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0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投資示唆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5902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次のパンデミックでも「構造的上昇」地域は強い ─ 福岡・北海道の都市部が長期投資先の筆頭候補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2026-07-01T08:14:13Z</dcterms:created>
  <dcterms:modified xsi:type="dcterms:W3CDTF">2026-07-01T08:14:13Z</dcterms:modified>
</cp:coreProperties>
</file>