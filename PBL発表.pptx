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2981180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f2981180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29811803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29811803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29811803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29811803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29811803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2981180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298118034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298118034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PBL</a:t>
            </a:r>
            <a:r>
              <a:rPr lang="ja"/>
              <a:t>発表</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大まかなストーリー</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ja"/>
              <a:t>テーマ 「コロナ禍の路線価変動：一時的ショックと構造的下落の地理的識別」</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ja" sz="1500"/>
              <a:t>①データ概要説明・目的説明（5分）</a:t>
            </a:r>
            <a:endParaRPr sz="1500"/>
          </a:p>
          <a:p>
            <a:pPr indent="0" lvl="0" marL="0" rtl="0" algn="l">
              <a:spcBef>
                <a:spcPts val="1200"/>
              </a:spcBef>
              <a:spcAft>
                <a:spcPts val="0"/>
              </a:spcAft>
              <a:buNone/>
            </a:pPr>
            <a:r>
              <a:rPr lang="ja" sz="1500"/>
              <a:t>②コロナ禍以前以後の路線価の遷移説明（5分）→</a:t>
            </a:r>
            <a:endParaRPr sz="1500"/>
          </a:p>
          <a:p>
            <a:pPr indent="0" lvl="0" marL="0" rtl="0" algn="l">
              <a:spcBef>
                <a:spcPts val="1200"/>
              </a:spcBef>
              <a:spcAft>
                <a:spcPts val="0"/>
              </a:spcAft>
              <a:buNone/>
            </a:pPr>
            <a:r>
              <a:rPr lang="ja" sz="1500"/>
              <a:t>③コロナ関係なく上昇・下落傾向が続いた場所を列挙（2分）→</a:t>
            </a:r>
            <a:endParaRPr sz="1500"/>
          </a:p>
          <a:p>
            <a:pPr indent="0" lvl="0" marL="0" rtl="0" algn="l">
              <a:spcBef>
                <a:spcPts val="1200"/>
              </a:spcBef>
              <a:spcAft>
                <a:spcPts val="0"/>
              </a:spcAft>
              <a:buNone/>
            </a:pPr>
            <a:r>
              <a:rPr lang="ja" sz="1500">
                <a:solidFill>
                  <a:srgbClr val="FF0000"/>
                </a:solidFill>
              </a:rPr>
              <a:t>④各地域</a:t>
            </a:r>
            <a:r>
              <a:rPr lang="ja" sz="1500">
                <a:solidFill>
                  <a:srgbClr val="FF0000"/>
                </a:solidFill>
              </a:rPr>
              <a:t>（北海道・宮城周辺・太平洋沿い+岐阜）</a:t>
            </a:r>
            <a:r>
              <a:rPr lang="ja" sz="1500">
                <a:solidFill>
                  <a:srgbClr val="FF0000"/>
                </a:solidFill>
              </a:rPr>
              <a:t>（5分✖️3人=15分）</a:t>
            </a:r>
            <a:endParaRPr sz="1500">
              <a:solidFill>
                <a:srgbClr val="FF0000"/>
              </a:solidFill>
            </a:endParaRPr>
          </a:p>
          <a:p>
            <a:pPr indent="0" lvl="0" marL="0" rtl="0" algn="l">
              <a:spcBef>
                <a:spcPts val="1200"/>
              </a:spcBef>
              <a:spcAft>
                <a:spcPts val="0"/>
              </a:spcAft>
              <a:buNone/>
            </a:pPr>
            <a:r>
              <a:rPr lang="ja" sz="1500">
                <a:solidFill>
                  <a:srgbClr val="FF0000"/>
                </a:solidFill>
              </a:rPr>
              <a:t>の分析（ハザードマップや土地の市場価格データ、</a:t>
            </a:r>
            <a:endParaRPr sz="1500">
              <a:solidFill>
                <a:srgbClr val="FF0000"/>
              </a:solidFill>
            </a:endParaRPr>
          </a:p>
          <a:p>
            <a:pPr indent="0" lvl="0" marL="0" rtl="0" algn="l">
              <a:spcBef>
                <a:spcPts val="1200"/>
              </a:spcBef>
              <a:spcAft>
                <a:spcPts val="0"/>
              </a:spcAft>
              <a:buNone/>
            </a:pPr>
            <a:r>
              <a:rPr lang="ja" sz="1500">
                <a:solidFill>
                  <a:srgbClr val="FF0000"/>
                </a:solidFill>
              </a:rPr>
              <a:t>政治的・経済的な背景などを参照）</a:t>
            </a:r>
            <a:endParaRPr sz="1500">
              <a:solidFill>
                <a:srgbClr val="FF0000"/>
              </a:solidFill>
            </a:endParaRPr>
          </a:p>
          <a:p>
            <a:pPr indent="0" lvl="0" marL="0" rtl="0" algn="l">
              <a:spcBef>
                <a:spcPts val="1200"/>
              </a:spcBef>
              <a:spcAft>
                <a:spcPts val="0"/>
              </a:spcAft>
              <a:buNone/>
            </a:pPr>
            <a:r>
              <a:rPr lang="ja" sz="1500"/>
              <a:t>⑤まとめ（土地を買う時は、ここがおすすめ！！みたいな、、）（3分）</a:t>
            </a:r>
            <a:endParaRPr sz="1500"/>
          </a:p>
          <a:p>
            <a:pPr indent="0" lvl="0" marL="0" rtl="0" algn="l">
              <a:spcBef>
                <a:spcPts val="1200"/>
              </a:spcBef>
              <a:spcAft>
                <a:spcPts val="1200"/>
              </a:spcAft>
              <a:buNone/>
            </a:pPr>
            <a:r>
              <a:rPr b="1" lang="ja"/>
              <a:t>計30分</a:t>
            </a:r>
            <a:endParaRPr b="1"/>
          </a:p>
        </p:txBody>
      </p:sp>
      <p:pic>
        <p:nvPicPr>
          <p:cNvPr id="61" name="Google Shape;61;p14" title="スクリーンショット 2026-06-27 10.37.47.png"/>
          <p:cNvPicPr preferRelativeResize="0"/>
          <p:nvPr/>
        </p:nvPicPr>
        <p:blipFill>
          <a:blip r:embed="rId3">
            <a:alphaModFix/>
          </a:blip>
          <a:stretch>
            <a:fillRect/>
          </a:stretch>
        </p:blipFill>
        <p:spPr>
          <a:xfrm>
            <a:off x="5352650" y="1608675"/>
            <a:ext cx="3683701" cy="33057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スクリーンショット 2026-06-27 10.37.47.png"/>
          <p:cNvPicPr preferRelativeResize="0"/>
          <p:nvPr/>
        </p:nvPicPr>
        <p:blipFill>
          <a:blip r:embed="rId3">
            <a:alphaModFix/>
          </a:blip>
          <a:stretch>
            <a:fillRect/>
          </a:stretch>
        </p:blipFill>
        <p:spPr>
          <a:xfrm>
            <a:off x="1706239" y="0"/>
            <a:ext cx="5731512"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0" y="445025"/>
            <a:ext cx="5190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ja" sz="1720"/>
              <a:t>コロナと無関係に、ずっと上昇・下落だった路線</a:t>
            </a:r>
            <a:endParaRPr sz="1720"/>
          </a:p>
        </p:txBody>
      </p:sp>
      <p:sp>
        <p:nvSpPr>
          <p:cNvPr id="72" name="Google Shape;72;p16"/>
          <p:cNvSpPr txBox="1"/>
          <p:nvPr>
            <p:ph idx="1" type="body"/>
          </p:nvPr>
        </p:nvSpPr>
        <p:spPr>
          <a:xfrm>
            <a:off x="107525" y="1152475"/>
            <a:ext cx="5082600" cy="24855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b="1" lang="ja" sz="1300"/>
              <a:t>路線別でみると絶対数としては、上昇路線は東京が多い。</a:t>
            </a:r>
            <a:endParaRPr b="1" sz="1300"/>
          </a:p>
          <a:p>
            <a:pPr indent="0" lvl="0" marL="0" rtl="0" algn="ctr">
              <a:spcBef>
                <a:spcPts val="1200"/>
              </a:spcBef>
              <a:spcAft>
                <a:spcPts val="0"/>
              </a:spcAft>
              <a:buNone/>
            </a:pPr>
            <a:r>
              <a:rPr lang="ja" sz="1300"/>
              <a:t>だが、東京の総路線は膨大。全4期間で上昇し続けた路線の「割合」は低い</a:t>
            </a:r>
            <a:endParaRPr sz="1300"/>
          </a:p>
          <a:p>
            <a:pPr indent="0" lvl="0" marL="0" rtl="0" algn="ctr">
              <a:spcBef>
                <a:spcPts val="1200"/>
              </a:spcBef>
              <a:spcAft>
                <a:spcPts val="0"/>
              </a:spcAft>
              <a:buNone/>
            </a:pPr>
            <a:r>
              <a:rPr lang="ja" sz="1300"/>
              <a:t>当たり前だが、都道府県によって、路線の数は違う。</a:t>
            </a:r>
            <a:endParaRPr sz="1300"/>
          </a:p>
          <a:p>
            <a:pPr indent="0" lvl="0" marL="0" rtl="0" algn="ctr">
              <a:spcBef>
                <a:spcPts val="1200"/>
              </a:spcBef>
              <a:spcAft>
                <a:spcPts val="0"/>
              </a:spcAft>
              <a:buNone/>
            </a:pPr>
            <a:r>
              <a:rPr lang="ja" sz="1300"/>
              <a:t>路線価の上昇・下落を路線単位で見ると、路線の絶対数が多い都市部にどうしても目がいってしまう</a:t>
            </a:r>
            <a:endParaRPr sz="1300"/>
          </a:p>
          <a:p>
            <a:pPr indent="0" lvl="0" marL="0" rtl="0" algn="ctr">
              <a:spcBef>
                <a:spcPts val="1200"/>
              </a:spcBef>
              <a:spcAft>
                <a:spcPts val="0"/>
              </a:spcAft>
              <a:buNone/>
            </a:pPr>
            <a:r>
              <a:rPr lang="ja" sz="1300"/>
              <a:t>路線別で見るより、都道府県別でみた方が傾向がわかりやすいかも、、？</a:t>
            </a:r>
            <a:endParaRPr sz="1300"/>
          </a:p>
          <a:p>
            <a:pPr indent="0" lvl="0" marL="0" rtl="0" algn="l">
              <a:spcBef>
                <a:spcPts val="1200"/>
              </a:spcBef>
              <a:spcAft>
                <a:spcPts val="0"/>
              </a:spcAft>
              <a:buNone/>
            </a:pPr>
            <a:r>
              <a:t/>
            </a:r>
            <a:endParaRPr sz="1300"/>
          </a:p>
          <a:p>
            <a:pPr indent="0" lvl="0" marL="0" rtl="0" algn="ctr">
              <a:spcBef>
                <a:spcPts val="1200"/>
              </a:spcBef>
              <a:spcAft>
                <a:spcPts val="1200"/>
              </a:spcAft>
              <a:buNone/>
            </a:pPr>
            <a:r>
              <a:t/>
            </a:r>
            <a:endParaRPr sz="1300"/>
          </a:p>
        </p:txBody>
      </p:sp>
      <p:pic>
        <p:nvPicPr>
          <p:cNvPr id="73" name="Google Shape;73;p16" title="スクリーンショット 2026-06-27 11.52.35.png"/>
          <p:cNvPicPr preferRelativeResize="0"/>
          <p:nvPr/>
        </p:nvPicPr>
        <p:blipFill>
          <a:blip r:embed="rId3">
            <a:alphaModFix/>
          </a:blip>
          <a:stretch>
            <a:fillRect/>
          </a:stretch>
        </p:blipFill>
        <p:spPr>
          <a:xfrm>
            <a:off x="439050" y="3462040"/>
            <a:ext cx="5082600" cy="1340985"/>
          </a:xfrm>
          <a:prstGeom prst="rect">
            <a:avLst/>
          </a:prstGeom>
          <a:noFill/>
          <a:ln>
            <a:noFill/>
          </a:ln>
        </p:spPr>
      </p:pic>
      <p:pic>
        <p:nvPicPr>
          <p:cNvPr id="74" name="Google Shape;74;p16" title="corona_always_trend.png"/>
          <p:cNvPicPr preferRelativeResize="0"/>
          <p:nvPr/>
        </p:nvPicPr>
        <p:blipFill>
          <a:blip r:embed="rId4">
            <a:alphaModFix/>
          </a:blip>
          <a:stretch>
            <a:fillRect/>
          </a:stretch>
        </p:blipFill>
        <p:spPr>
          <a:xfrm>
            <a:off x="5190140" y="0"/>
            <a:ext cx="3953871" cy="5143500"/>
          </a:xfrm>
          <a:prstGeom prst="rect">
            <a:avLst/>
          </a:prstGeom>
          <a:noFill/>
          <a:ln>
            <a:noFill/>
          </a:ln>
        </p:spPr>
      </p:pic>
      <p:cxnSp>
        <p:nvCxnSpPr>
          <p:cNvPr id="75" name="Google Shape;75;p16"/>
          <p:cNvCxnSpPr/>
          <p:nvPr/>
        </p:nvCxnSpPr>
        <p:spPr>
          <a:xfrm>
            <a:off x="2649675" y="2916875"/>
            <a:ext cx="0" cy="452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220"/>
              <a:t>都道府県別でみた4期間ずっと上昇・下落の路線の割合が多い地域</a:t>
            </a:r>
            <a:endParaRPr sz="2220"/>
          </a:p>
        </p:txBody>
      </p:sp>
      <p:pic>
        <p:nvPicPr>
          <p:cNvPr id="81" name="Google Shape;81;p17" title="スクリーンショット 2026-06-27 11.44.41.png"/>
          <p:cNvPicPr preferRelativeResize="0"/>
          <p:nvPr/>
        </p:nvPicPr>
        <p:blipFill>
          <a:blip r:embed="rId3">
            <a:alphaModFix/>
          </a:blip>
          <a:stretch>
            <a:fillRect/>
          </a:stretch>
        </p:blipFill>
        <p:spPr>
          <a:xfrm>
            <a:off x="396950" y="1152475"/>
            <a:ext cx="3896227" cy="3843375"/>
          </a:xfrm>
          <a:prstGeom prst="rect">
            <a:avLst/>
          </a:prstGeom>
          <a:noFill/>
          <a:ln>
            <a:noFill/>
          </a:ln>
        </p:spPr>
      </p:pic>
      <p:pic>
        <p:nvPicPr>
          <p:cNvPr id="82" name="Google Shape;82;p17" title="スクリーンショット 2026-06-27 11.45.02.png"/>
          <p:cNvPicPr preferRelativeResize="0"/>
          <p:nvPr/>
        </p:nvPicPr>
        <p:blipFill>
          <a:blip r:embed="rId4">
            <a:alphaModFix/>
          </a:blip>
          <a:stretch>
            <a:fillRect/>
          </a:stretch>
        </p:blipFill>
        <p:spPr>
          <a:xfrm>
            <a:off x="4408950" y="1221500"/>
            <a:ext cx="4604850" cy="3347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結論の出し方</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ctr">
              <a:spcBef>
                <a:spcPts val="0"/>
              </a:spcBef>
              <a:spcAft>
                <a:spcPts val="0"/>
              </a:spcAft>
              <a:buNone/>
            </a:pPr>
            <a:r>
              <a:rPr lang="ja"/>
              <a:t>コロナ前後で、なんとなく上昇・下落していた地域は</a:t>
            </a:r>
            <a:endParaRPr/>
          </a:p>
          <a:p>
            <a:pPr indent="0" lvl="0" marL="0" rtl="0" algn="ctr">
              <a:spcBef>
                <a:spcPts val="1200"/>
              </a:spcBef>
              <a:spcAft>
                <a:spcPts val="0"/>
              </a:spcAft>
              <a:buNone/>
            </a:pPr>
            <a:r>
              <a:rPr lang="ja"/>
              <a:t>全て路線価が据え置き（前年度と同じ価格）になった。</a:t>
            </a:r>
            <a:endParaRPr/>
          </a:p>
          <a:p>
            <a:pPr indent="0" lvl="0" marL="0" rtl="0" algn="ctr">
              <a:spcBef>
                <a:spcPts val="1200"/>
              </a:spcBef>
              <a:spcAft>
                <a:spcPts val="0"/>
              </a:spcAft>
              <a:buNone/>
            </a:pPr>
            <a:r>
              <a:rPr lang="ja"/>
              <a:t>↓</a:t>
            </a:r>
            <a:endParaRPr/>
          </a:p>
          <a:p>
            <a:pPr indent="0" lvl="0" marL="0" rtl="0" algn="ctr">
              <a:spcBef>
                <a:spcPts val="1200"/>
              </a:spcBef>
              <a:spcAft>
                <a:spcPts val="0"/>
              </a:spcAft>
              <a:buNone/>
            </a:pPr>
            <a:r>
              <a:rPr lang="ja"/>
              <a:t>結果、強い上昇傾向あるいは下落傾向にある地域のみが路線価の変動として残った。</a:t>
            </a:r>
            <a:endParaRPr/>
          </a:p>
          <a:p>
            <a:pPr indent="0" lvl="0" marL="0" rtl="0" algn="ctr">
              <a:spcBef>
                <a:spcPts val="1200"/>
              </a:spcBef>
              <a:spcAft>
                <a:spcPts val="0"/>
              </a:spcAft>
              <a:buNone/>
            </a:pPr>
            <a:r>
              <a:rPr lang="ja"/>
              <a:t>↓</a:t>
            </a:r>
            <a:endParaRPr/>
          </a:p>
          <a:p>
            <a:pPr indent="0" lvl="0" marL="0" rtl="0" algn="ctr">
              <a:spcBef>
                <a:spcPts val="1200"/>
              </a:spcBef>
              <a:spcAft>
                <a:spcPts val="0"/>
              </a:spcAft>
              <a:buNone/>
            </a:pPr>
            <a:r>
              <a:rPr lang="ja"/>
              <a:t>今回の分析で浮き彫りにした地域は、一時的なトレンドやショックに関係なく、確実にここ何年かで「何かが起きた・起きている地域」だと言える。（北海道ニセコ・福岡・神奈川）</a:t>
            </a:r>
            <a:endParaRPr/>
          </a:p>
          <a:p>
            <a:pPr indent="0" lvl="0" marL="0" rtl="0" algn="ctr">
              <a:spcBef>
                <a:spcPts val="1200"/>
              </a:spcBef>
              <a:spcAft>
                <a:spcPts val="0"/>
              </a:spcAft>
              <a:buNone/>
            </a:pPr>
            <a:r>
              <a:rPr lang="ja"/>
              <a:t>↓</a:t>
            </a:r>
            <a:endParaRPr/>
          </a:p>
          <a:p>
            <a:pPr indent="0" lvl="0" marL="0" rtl="0" algn="ctr">
              <a:spcBef>
                <a:spcPts val="1200"/>
              </a:spcBef>
              <a:spcAft>
                <a:spcPts val="0"/>
              </a:spcAft>
              <a:buNone/>
            </a:pPr>
            <a:r>
              <a:rPr lang="ja"/>
              <a:t>それは、「〇〇」です！！</a:t>
            </a:r>
            <a:r>
              <a:rPr lang="ja">
                <a:solidFill>
                  <a:srgbClr val="FF0000"/>
                </a:solidFill>
              </a:rPr>
              <a:t>←ここをもっとエビデンスを持って、言いたい</a:t>
            </a:r>
            <a:endParaRPr>
              <a:solidFill>
                <a:srgbClr val="FF0000"/>
              </a:solidFill>
            </a:endParaRPr>
          </a:p>
          <a:p>
            <a:pPr indent="0" lvl="0" marL="0" rtl="0" algn="ctr">
              <a:spcBef>
                <a:spcPts val="1200"/>
              </a:spcBef>
              <a:spcAft>
                <a:spcPts val="1200"/>
              </a:spcAft>
              <a:buNone/>
            </a:pPr>
            <a:r>
              <a:rPr lang="ja"/>
              <a:t>多分北海道・福岡は「インバウンド」、神奈川は郊外衰退路線が多いからかな、、？</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